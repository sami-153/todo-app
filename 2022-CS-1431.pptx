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0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76722D-03F5-47EF-B8F8-63E560445F4A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6A5E3F1-92F7-4034-A92D-B6F4D61FA44E}">
      <dgm:prSet custT="1"/>
      <dgm:spPr/>
      <dgm:t>
        <a:bodyPr/>
        <a:lstStyle/>
        <a:p>
          <a:r>
            <a:rPr lang="en-US" sz="2000" dirty="0"/>
            <a:t>scanning the input from left to right</a:t>
          </a:r>
          <a:endParaRPr lang="en-IN" sz="2000" dirty="0"/>
        </a:p>
      </dgm:t>
    </dgm:pt>
    <dgm:pt modelId="{68A41B48-9B1D-4BE2-B13C-4F78687BDC91}" type="parTrans" cxnId="{43C33D89-6A4F-4169-851C-2B8AEF9A2AAA}">
      <dgm:prSet/>
      <dgm:spPr/>
      <dgm:t>
        <a:bodyPr/>
        <a:lstStyle/>
        <a:p>
          <a:endParaRPr lang="en-IN"/>
        </a:p>
      </dgm:t>
    </dgm:pt>
    <dgm:pt modelId="{3098CE9E-5D64-4284-90B4-C683B6F8D871}" type="sibTrans" cxnId="{43C33D89-6A4F-4169-851C-2B8AEF9A2AAA}">
      <dgm:prSet/>
      <dgm:spPr/>
      <dgm:t>
        <a:bodyPr/>
        <a:lstStyle/>
        <a:p>
          <a:endParaRPr lang="en-IN"/>
        </a:p>
      </dgm:t>
    </dgm:pt>
    <dgm:pt modelId="{ECC48C04-FBB3-4596-9B05-6C064F82A99A}" type="pres">
      <dgm:prSet presAssocID="{9D76722D-03F5-47EF-B8F8-63E560445F4A}" presName="Name0" presStyleCnt="0">
        <dgm:presLayoutVars>
          <dgm:dir/>
          <dgm:resizeHandles val="exact"/>
        </dgm:presLayoutVars>
      </dgm:prSet>
      <dgm:spPr/>
    </dgm:pt>
    <dgm:pt modelId="{07F59EB0-93CD-4725-8423-B2524CB7981B}" type="pres">
      <dgm:prSet presAssocID="{B6A5E3F1-92F7-4034-A92D-B6F4D61FA44E}" presName="node" presStyleLbl="node1" presStyleIdx="0" presStyleCnt="1" custLinFactNeighborX="-3868" custLinFactNeighborY="0">
        <dgm:presLayoutVars>
          <dgm:bulletEnabled val="1"/>
        </dgm:presLayoutVars>
      </dgm:prSet>
      <dgm:spPr/>
    </dgm:pt>
  </dgm:ptLst>
  <dgm:cxnLst>
    <dgm:cxn modelId="{0A046467-88C1-4C17-91AB-0BB3062AA9CB}" type="presOf" srcId="{9D76722D-03F5-47EF-B8F8-63E560445F4A}" destId="{ECC48C04-FBB3-4596-9B05-6C064F82A99A}" srcOrd="0" destOrd="0" presId="urn:microsoft.com/office/officeart/2005/8/layout/process1"/>
    <dgm:cxn modelId="{70B8967A-5F8B-4B47-8BBD-8E6776831523}" type="presOf" srcId="{B6A5E3F1-92F7-4034-A92D-B6F4D61FA44E}" destId="{07F59EB0-93CD-4725-8423-B2524CB7981B}" srcOrd="0" destOrd="0" presId="urn:microsoft.com/office/officeart/2005/8/layout/process1"/>
    <dgm:cxn modelId="{43C33D89-6A4F-4169-851C-2B8AEF9A2AAA}" srcId="{9D76722D-03F5-47EF-B8F8-63E560445F4A}" destId="{B6A5E3F1-92F7-4034-A92D-B6F4D61FA44E}" srcOrd="0" destOrd="0" parTransId="{68A41B48-9B1D-4BE2-B13C-4F78687BDC91}" sibTransId="{3098CE9E-5D64-4284-90B4-C683B6F8D871}"/>
    <dgm:cxn modelId="{609D18C8-B728-450C-8DF4-B4D83AC6FCB3}" type="presParOf" srcId="{ECC48C04-FBB3-4596-9B05-6C064F82A99A}" destId="{07F59EB0-93CD-4725-8423-B2524CB7981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9DD749-8536-4ACD-86BD-8263E871FFBF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1B3ED7D-C253-4DE2-A05A-88AEEBFCBB35}">
      <dgm:prSet custT="1"/>
      <dgm:spPr/>
      <dgm:t>
        <a:bodyPr/>
        <a:lstStyle/>
        <a:p>
          <a:r>
            <a:rPr lang="en-IN" sz="2000" dirty="0"/>
            <a:t>leftmost derivation</a:t>
          </a:r>
        </a:p>
      </dgm:t>
    </dgm:pt>
    <dgm:pt modelId="{A9C26C70-297F-4DE1-BF6D-7E99339FC7F1}" type="parTrans" cxnId="{4DD84E21-CAA9-41C6-969A-9AEEA9539200}">
      <dgm:prSet/>
      <dgm:spPr/>
      <dgm:t>
        <a:bodyPr/>
        <a:lstStyle/>
        <a:p>
          <a:endParaRPr lang="en-IN"/>
        </a:p>
      </dgm:t>
    </dgm:pt>
    <dgm:pt modelId="{805FE50E-22EF-4CA2-952F-17F20E02AE8A}" type="sibTrans" cxnId="{4DD84E21-CAA9-41C6-969A-9AEEA9539200}">
      <dgm:prSet/>
      <dgm:spPr/>
      <dgm:t>
        <a:bodyPr/>
        <a:lstStyle/>
        <a:p>
          <a:endParaRPr lang="en-IN"/>
        </a:p>
      </dgm:t>
    </dgm:pt>
    <dgm:pt modelId="{DBFDA9DC-7E18-49A7-ABBD-0D40CB679217}" type="pres">
      <dgm:prSet presAssocID="{539DD749-8536-4ACD-86BD-8263E871FFBF}" presName="Name0" presStyleCnt="0">
        <dgm:presLayoutVars>
          <dgm:dir/>
          <dgm:resizeHandles val="exact"/>
        </dgm:presLayoutVars>
      </dgm:prSet>
      <dgm:spPr/>
    </dgm:pt>
    <dgm:pt modelId="{1C01E2C5-32D4-4D03-A770-9B3B4A4E3651}" type="pres">
      <dgm:prSet presAssocID="{91B3ED7D-C253-4DE2-A05A-88AEEBFCBB35}" presName="node" presStyleLbl="node1" presStyleIdx="0" presStyleCnt="1" custLinFactNeighborX="-13289" custLinFactNeighborY="467">
        <dgm:presLayoutVars>
          <dgm:bulletEnabled val="1"/>
        </dgm:presLayoutVars>
      </dgm:prSet>
      <dgm:spPr/>
    </dgm:pt>
  </dgm:ptLst>
  <dgm:cxnLst>
    <dgm:cxn modelId="{4DD84E21-CAA9-41C6-969A-9AEEA9539200}" srcId="{539DD749-8536-4ACD-86BD-8263E871FFBF}" destId="{91B3ED7D-C253-4DE2-A05A-88AEEBFCBB35}" srcOrd="0" destOrd="0" parTransId="{A9C26C70-297F-4DE1-BF6D-7E99339FC7F1}" sibTransId="{805FE50E-22EF-4CA2-952F-17F20E02AE8A}"/>
    <dgm:cxn modelId="{B31F1D5C-31CE-4EFE-B73F-D091400794A1}" type="presOf" srcId="{539DD749-8536-4ACD-86BD-8263E871FFBF}" destId="{DBFDA9DC-7E18-49A7-ABBD-0D40CB679217}" srcOrd="0" destOrd="0" presId="urn:microsoft.com/office/officeart/2005/8/layout/process1"/>
    <dgm:cxn modelId="{5839DAA7-6A70-4DBB-96C4-2D1122C67DC5}" type="presOf" srcId="{91B3ED7D-C253-4DE2-A05A-88AEEBFCBB35}" destId="{1C01E2C5-32D4-4D03-A770-9B3B4A4E3651}" srcOrd="0" destOrd="0" presId="urn:microsoft.com/office/officeart/2005/8/layout/process1"/>
    <dgm:cxn modelId="{8139E527-8296-4945-A174-596CC4C4D056}" type="presParOf" srcId="{DBFDA9DC-7E18-49A7-ABBD-0D40CB679217}" destId="{1C01E2C5-32D4-4D03-A770-9B3B4A4E3651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275F01-A0F2-444D-B2DE-90B0035A3D2A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FE5A54A-4B8B-414C-A2BB-3B4BBD7E542C}">
      <dgm:prSet custT="1"/>
      <dgm:spPr/>
      <dgm:t>
        <a:bodyPr/>
        <a:lstStyle/>
        <a:p>
          <a:r>
            <a:rPr lang="en-IN" sz="2000" dirty="0"/>
            <a:t>using only one input symbol at a time</a:t>
          </a:r>
        </a:p>
      </dgm:t>
    </dgm:pt>
    <dgm:pt modelId="{D85BAA38-FC33-4F5E-A2CA-E01F8085A5F8}" type="parTrans" cxnId="{0F310875-DB62-44DA-80B5-3248CCA892AD}">
      <dgm:prSet/>
      <dgm:spPr/>
      <dgm:t>
        <a:bodyPr/>
        <a:lstStyle/>
        <a:p>
          <a:endParaRPr lang="en-IN"/>
        </a:p>
      </dgm:t>
    </dgm:pt>
    <dgm:pt modelId="{05C139D6-78A3-48CB-9E3C-32ED6C6E9EB3}" type="sibTrans" cxnId="{0F310875-DB62-44DA-80B5-3248CCA892AD}">
      <dgm:prSet/>
      <dgm:spPr/>
      <dgm:t>
        <a:bodyPr/>
        <a:lstStyle/>
        <a:p>
          <a:endParaRPr lang="en-IN"/>
        </a:p>
      </dgm:t>
    </dgm:pt>
    <dgm:pt modelId="{B382F53D-9413-4740-AE9E-F0A5D1385DDE}" type="pres">
      <dgm:prSet presAssocID="{DF275F01-A0F2-444D-B2DE-90B0035A3D2A}" presName="Name0" presStyleCnt="0">
        <dgm:presLayoutVars>
          <dgm:dir/>
          <dgm:resizeHandles val="exact"/>
        </dgm:presLayoutVars>
      </dgm:prSet>
      <dgm:spPr/>
    </dgm:pt>
    <dgm:pt modelId="{BDB1579E-8D7B-4BD6-9DAA-2B54900E713C}" type="pres">
      <dgm:prSet presAssocID="{4FE5A54A-4B8B-414C-A2BB-3B4BBD7E542C}" presName="node" presStyleLbl="node1" presStyleIdx="0" presStyleCnt="1" custLinFactNeighborX="-49" custLinFactNeighborY="4484">
        <dgm:presLayoutVars>
          <dgm:bulletEnabled val="1"/>
        </dgm:presLayoutVars>
      </dgm:prSet>
      <dgm:spPr/>
    </dgm:pt>
  </dgm:ptLst>
  <dgm:cxnLst>
    <dgm:cxn modelId="{160ED245-69B1-425C-B9A9-D97A2724DC9B}" type="presOf" srcId="{4FE5A54A-4B8B-414C-A2BB-3B4BBD7E542C}" destId="{BDB1579E-8D7B-4BD6-9DAA-2B54900E713C}" srcOrd="0" destOrd="0" presId="urn:microsoft.com/office/officeart/2005/8/layout/process1"/>
    <dgm:cxn modelId="{2B3B9F54-A625-418B-A98C-021591949576}" type="presOf" srcId="{DF275F01-A0F2-444D-B2DE-90B0035A3D2A}" destId="{B382F53D-9413-4740-AE9E-F0A5D1385DDE}" srcOrd="0" destOrd="0" presId="urn:microsoft.com/office/officeart/2005/8/layout/process1"/>
    <dgm:cxn modelId="{0F310875-DB62-44DA-80B5-3248CCA892AD}" srcId="{DF275F01-A0F2-444D-B2DE-90B0035A3D2A}" destId="{4FE5A54A-4B8B-414C-A2BB-3B4BBD7E542C}" srcOrd="0" destOrd="0" parTransId="{D85BAA38-FC33-4F5E-A2CA-E01F8085A5F8}" sibTransId="{05C139D6-78A3-48CB-9E3C-32ED6C6E9EB3}"/>
    <dgm:cxn modelId="{14042A5A-4697-497D-82D2-CB447FCEE699}" type="presParOf" srcId="{B382F53D-9413-4740-AE9E-F0A5D1385DDE}" destId="{BDB1579E-8D7B-4BD6-9DAA-2B54900E713C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76722D-03F5-47EF-B8F8-63E560445F4A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6A5E3F1-92F7-4034-A92D-B6F4D61FA44E}">
      <dgm:prSet custT="1"/>
      <dgm:spPr/>
      <dgm:t>
        <a:bodyPr/>
        <a:lstStyle/>
        <a:p>
          <a:r>
            <a:rPr lang="en-US" sz="2000" dirty="0"/>
            <a:t>scanning the input from left to right</a:t>
          </a:r>
          <a:endParaRPr lang="en-IN" sz="2000" dirty="0"/>
        </a:p>
      </dgm:t>
    </dgm:pt>
    <dgm:pt modelId="{68A41B48-9B1D-4BE2-B13C-4F78687BDC91}" type="parTrans" cxnId="{43C33D89-6A4F-4169-851C-2B8AEF9A2AAA}">
      <dgm:prSet/>
      <dgm:spPr/>
      <dgm:t>
        <a:bodyPr/>
        <a:lstStyle/>
        <a:p>
          <a:endParaRPr lang="en-IN"/>
        </a:p>
      </dgm:t>
    </dgm:pt>
    <dgm:pt modelId="{3098CE9E-5D64-4284-90B4-C683B6F8D871}" type="sibTrans" cxnId="{43C33D89-6A4F-4169-851C-2B8AEF9A2AAA}">
      <dgm:prSet/>
      <dgm:spPr/>
      <dgm:t>
        <a:bodyPr/>
        <a:lstStyle/>
        <a:p>
          <a:endParaRPr lang="en-IN"/>
        </a:p>
      </dgm:t>
    </dgm:pt>
    <dgm:pt modelId="{ECC48C04-FBB3-4596-9B05-6C064F82A99A}" type="pres">
      <dgm:prSet presAssocID="{9D76722D-03F5-47EF-B8F8-63E560445F4A}" presName="Name0" presStyleCnt="0">
        <dgm:presLayoutVars>
          <dgm:dir/>
          <dgm:resizeHandles val="exact"/>
        </dgm:presLayoutVars>
      </dgm:prSet>
      <dgm:spPr/>
    </dgm:pt>
    <dgm:pt modelId="{07F59EB0-93CD-4725-8423-B2524CB7981B}" type="pres">
      <dgm:prSet presAssocID="{B6A5E3F1-92F7-4034-A92D-B6F4D61FA44E}" presName="node" presStyleLbl="node1" presStyleIdx="0" presStyleCnt="1" custLinFactNeighborX="-3868" custLinFactNeighborY="0">
        <dgm:presLayoutVars>
          <dgm:bulletEnabled val="1"/>
        </dgm:presLayoutVars>
      </dgm:prSet>
      <dgm:spPr/>
    </dgm:pt>
  </dgm:ptLst>
  <dgm:cxnLst>
    <dgm:cxn modelId="{0A046467-88C1-4C17-91AB-0BB3062AA9CB}" type="presOf" srcId="{9D76722D-03F5-47EF-B8F8-63E560445F4A}" destId="{ECC48C04-FBB3-4596-9B05-6C064F82A99A}" srcOrd="0" destOrd="0" presId="urn:microsoft.com/office/officeart/2005/8/layout/process1"/>
    <dgm:cxn modelId="{70B8967A-5F8B-4B47-8BBD-8E6776831523}" type="presOf" srcId="{B6A5E3F1-92F7-4034-A92D-B6F4D61FA44E}" destId="{07F59EB0-93CD-4725-8423-B2524CB7981B}" srcOrd="0" destOrd="0" presId="urn:microsoft.com/office/officeart/2005/8/layout/process1"/>
    <dgm:cxn modelId="{43C33D89-6A4F-4169-851C-2B8AEF9A2AAA}" srcId="{9D76722D-03F5-47EF-B8F8-63E560445F4A}" destId="{B6A5E3F1-92F7-4034-A92D-B6F4D61FA44E}" srcOrd="0" destOrd="0" parTransId="{68A41B48-9B1D-4BE2-B13C-4F78687BDC91}" sibTransId="{3098CE9E-5D64-4284-90B4-C683B6F8D871}"/>
    <dgm:cxn modelId="{609D18C8-B728-450C-8DF4-B4D83AC6FCB3}" type="presParOf" srcId="{ECC48C04-FBB3-4596-9B05-6C064F82A99A}" destId="{07F59EB0-93CD-4725-8423-B2524CB7981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9DD749-8536-4ACD-86BD-8263E871FFBF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1B3ED7D-C253-4DE2-A05A-88AEEBFCBB35}">
      <dgm:prSet custT="1"/>
      <dgm:spPr/>
      <dgm:t>
        <a:bodyPr/>
        <a:lstStyle/>
        <a:p>
          <a:r>
            <a:rPr lang="en-IN" sz="2000" dirty="0"/>
            <a:t>leftmost derivation</a:t>
          </a:r>
        </a:p>
      </dgm:t>
    </dgm:pt>
    <dgm:pt modelId="{A9C26C70-297F-4DE1-BF6D-7E99339FC7F1}" type="parTrans" cxnId="{4DD84E21-CAA9-41C6-969A-9AEEA9539200}">
      <dgm:prSet/>
      <dgm:spPr/>
      <dgm:t>
        <a:bodyPr/>
        <a:lstStyle/>
        <a:p>
          <a:endParaRPr lang="en-IN"/>
        </a:p>
      </dgm:t>
    </dgm:pt>
    <dgm:pt modelId="{805FE50E-22EF-4CA2-952F-17F20E02AE8A}" type="sibTrans" cxnId="{4DD84E21-CAA9-41C6-969A-9AEEA9539200}">
      <dgm:prSet/>
      <dgm:spPr/>
      <dgm:t>
        <a:bodyPr/>
        <a:lstStyle/>
        <a:p>
          <a:endParaRPr lang="en-IN"/>
        </a:p>
      </dgm:t>
    </dgm:pt>
    <dgm:pt modelId="{DBFDA9DC-7E18-49A7-ABBD-0D40CB679217}" type="pres">
      <dgm:prSet presAssocID="{539DD749-8536-4ACD-86BD-8263E871FFBF}" presName="Name0" presStyleCnt="0">
        <dgm:presLayoutVars>
          <dgm:dir/>
          <dgm:resizeHandles val="exact"/>
        </dgm:presLayoutVars>
      </dgm:prSet>
      <dgm:spPr/>
    </dgm:pt>
    <dgm:pt modelId="{1C01E2C5-32D4-4D03-A770-9B3B4A4E3651}" type="pres">
      <dgm:prSet presAssocID="{91B3ED7D-C253-4DE2-A05A-88AEEBFCBB35}" presName="node" presStyleLbl="node1" presStyleIdx="0" presStyleCnt="1" custLinFactNeighborY="467">
        <dgm:presLayoutVars>
          <dgm:bulletEnabled val="1"/>
        </dgm:presLayoutVars>
      </dgm:prSet>
      <dgm:spPr/>
    </dgm:pt>
  </dgm:ptLst>
  <dgm:cxnLst>
    <dgm:cxn modelId="{4DD84E21-CAA9-41C6-969A-9AEEA9539200}" srcId="{539DD749-8536-4ACD-86BD-8263E871FFBF}" destId="{91B3ED7D-C253-4DE2-A05A-88AEEBFCBB35}" srcOrd="0" destOrd="0" parTransId="{A9C26C70-297F-4DE1-BF6D-7E99339FC7F1}" sibTransId="{805FE50E-22EF-4CA2-952F-17F20E02AE8A}"/>
    <dgm:cxn modelId="{B31F1D5C-31CE-4EFE-B73F-D091400794A1}" type="presOf" srcId="{539DD749-8536-4ACD-86BD-8263E871FFBF}" destId="{DBFDA9DC-7E18-49A7-ABBD-0D40CB679217}" srcOrd="0" destOrd="0" presId="urn:microsoft.com/office/officeart/2005/8/layout/process1"/>
    <dgm:cxn modelId="{5839DAA7-6A70-4DBB-96C4-2D1122C67DC5}" type="presOf" srcId="{91B3ED7D-C253-4DE2-A05A-88AEEBFCBB35}" destId="{1C01E2C5-32D4-4D03-A770-9B3B4A4E3651}" srcOrd="0" destOrd="0" presId="urn:microsoft.com/office/officeart/2005/8/layout/process1"/>
    <dgm:cxn modelId="{8139E527-8296-4945-A174-596CC4C4D056}" type="presParOf" srcId="{DBFDA9DC-7E18-49A7-ABBD-0D40CB679217}" destId="{1C01E2C5-32D4-4D03-A770-9B3B4A4E3651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F59EB0-93CD-4725-8423-B2524CB7981B}">
      <dsp:nvSpPr>
        <dsp:cNvPr id="0" name=""/>
        <dsp:cNvSpPr/>
      </dsp:nvSpPr>
      <dsp:spPr>
        <a:xfrm>
          <a:off x="0" y="4383"/>
          <a:ext cx="2186721" cy="1312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scanning the input from left to right</a:t>
          </a:r>
          <a:endParaRPr lang="en-IN" sz="2000" kern="1200" dirty="0"/>
        </a:p>
      </dsp:txBody>
      <dsp:txXfrm>
        <a:off x="38428" y="42811"/>
        <a:ext cx="2109865" cy="12351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1E2C5-32D4-4D03-A770-9B3B4A4E3651}">
      <dsp:nvSpPr>
        <dsp:cNvPr id="0" name=""/>
        <dsp:cNvSpPr/>
      </dsp:nvSpPr>
      <dsp:spPr>
        <a:xfrm>
          <a:off x="0" y="12226"/>
          <a:ext cx="2180948" cy="13085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leftmost derivation</a:t>
          </a:r>
        </a:p>
      </dsp:txBody>
      <dsp:txXfrm>
        <a:off x="38327" y="50553"/>
        <a:ext cx="2104294" cy="12319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1579E-8D7B-4BD6-9DAA-2B54900E713C}">
      <dsp:nvSpPr>
        <dsp:cNvPr id="0" name=""/>
        <dsp:cNvSpPr/>
      </dsp:nvSpPr>
      <dsp:spPr>
        <a:xfrm>
          <a:off x="0" y="12230"/>
          <a:ext cx="2180949" cy="1308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using only one input symbol at a time</a:t>
          </a:r>
        </a:p>
      </dsp:txBody>
      <dsp:txXfrm>
        <a:off x="38327" y="50557"/>
        <a:ext cx="2104295" cy="1231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F59EB0-93CD-4725-8423-B2524CB7981B}">
      <dsp:nvSpPr>
        <dsp:cNvPr id="0" name=""/>
        <dsp:cNvSpPr/>
      </dsp:nvSpPr>
      <dsp:spPr>
        <a:xfrm>
          <a:off x="0" y="4383"/>
          <a:ext cx="2186721" cy="1312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scanning the input from left to right</a:t>
          </a:r>
          <a:endParaRPr lang="en-IN" sz="2000" kern="1200" dirty="0"/>
        </a:p>
      </dsp:txBody>
      <dsp:txXfrm>
        <a:off x="38428" y="42811"/>
        <a:ext cx="2109865" cy="12351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1E2C5-32D4-4D03-A770-9B3B4A4E3651}">
      <dsp:nvSpPr>
        <dsp:cNvPr id="0" name=""/>
        <dsp:cNvSpPr/>
      </dsp:nvSpPr>
      <dsp:spPr>
        <a:xfrm>
          <a:off x="0" y="12226"/>
          <a:ext cx="2180948" cy="13085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leftmost derivation</a:t>
          </a:r>
        </a:p>
      </dsp:txBody>
      <dsp:txXfrm>
        <a:off x="38327" y="50553"/>
        <a:ext cx="2104294" cy="1231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E5A73-7754-4EBD-9957-9885A0273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676565"/>
            <a:ext cx="7766936" cy="1646302"/>
          </a:xfrm>
        </p:spPr>
        <p:txBody>
          <a:bodyPr/>
          <a:lstStyle/>
          <a:p>
            <a:pPr algn="ctr"/>
            <a:r>
              <a:rPr lang="en-IN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 LL(1) PARSING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493D6-EAFD-41FC-ADCF-5719854C8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828097"/>
            <a:ext cx="7766936" cy="2723623"/>
          </a:xfrm>
        </p:spPr>
        <p:txBody>
          <a:bodyPr/>
          <a:lstStyle/>
          <a:p>
            <a:pPr algn="l"/>
            <a:r>
              <a:rPr lang="en-IN" dirty="0"/>
              <a:t>PRESENTED TO :-</a:t>
            </a:r>
          </a:p>
          <a:p>
            <a:pPr algn="l"/>
            <a:r>
              <a:rPr lang="en-IN" dirty="0"/>
              <a:t>			PRATIK N. PATEL</a:t>
            </a:r>
          </a:p>
          <a:p>
            <a:pPr algn="l"/>
            <a:r>
              <a:rPr lang="en-IN" dirty="0"/>
              <a:t>PRESENTED BY :-</a:t>
            </a:r>
          </a:p>
          <a:p>
            <a:pPr algn="l"/>
            <a:r>
              <a:rPr lang="en-IN" dirty="0"/>
              <a:t>			PATEL KHYATI      (170050107079)</a:t>
            </a:r>
          </a:p>
          <a:p>
            <a:pPr algn="l"/>
            <a:r>
              <a:rPr lang="en-IN" dirty="0"/>
              <a:t>			PATEL NIRMOHI    (170050107084)</a:t>
            </a:r>
          </a:p>
        </p:txBody>
      </p:sp>
    </p:spTree>
    <p:extLst>
      <p:ext uri="{BB962C8B-B14F-4D97-AF65-F5344CB8AC3E}">
        <p14:creationId xmlns:p14="http://schemas.microsoft.com/office/powerpoint/2010/main" val="322990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1FAE-381C-4730-9A9B-6AB2B9FC5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130423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2974-AFB3-4CBA-8987-3151E2F60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08699"/>
            <a:ext cx="8596668" cy="4132663"/>
          </a:xfrm>
        </p:spPr>
        <p:txBody>
          <a:bodyPr>
            <a:normAutofit/>
          </a:bodyPr>
          <a:lstStyle/>
          <a:p>
            <a:r>
              <a:rPr lang="en-US" sz="2000" dirty="0"/>
              <a:t>The process of deriving the string from the given grammar is known as parsing (derivation).</a:t>
            </a:r>
          </a:p>
          <a:p>
            <a:r>
              <a:rPr lang="en-US" sz="2000" dirty="0"/>
              <a:t>Depending upon how parsing is done we have two types of parser 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Top Down Parser</a:t>
            </a:r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en-US" sz="2000" dirty="0">
                <a:sym typeface="Wingdings" panose="05000000000000000000" pitchFamily="2" charset="2"/>
              </a:rPr>
              <a:t> Back Tracking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		 Predictive Parser</a:t>
            </a:r>
            <a:endParaRPr lang="en-US" sz="20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Bottom Up Parser</a:t>
            </a:r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en-US" sz="2000" dirty="0">
                <a:sym typeface="Wingdings" panose="05000000000000000000" pitchFamily="2" charset="2"/>
              </a:rPr>
              <a:t> Shift – Reduce Parser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		 LR Parser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0585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22BB-B45B-4050-8F33-BFA85303D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6" y="65239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L </a:t>
            </a:r>
            <a:r>
              <a:rPr lang="en-IN" sz="5400" dirty="0" err="1"/>
              <a:t>L</a:t>
            </a:r>
            <a:r>
              <a:rPr lang="en-IN" sz="5400" dirty="0"/>
              <a:t> (1) PARSER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02E451D-1485-4800-B0E5-95A83835B1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4778216"/>
              </p:ext>
            </p:extLst>
          </p:nvPr>
        </p:nvGraphicFramePr>
        <p:xfrm>
          <a:off x="999889" y="2921849"/>
          <a:ext cx="2186721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A2EB3E0-06DC-4657-9444-54605102C1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196155"/>
              </p:ext>
            </p:extLst>
          </p:nvPr>
        </p:nvGraphicFramePr>
        <p:xfrm>
          <a:off x="3715140" y="2921849"/>
          <a:ext cx="218094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3AF337D-9E10-40BD-89EC-5C1AE7AAD3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4572953"/>
              </p:ext>
            </p:extLst>
          </p:nvPr>
        </p:nvGraphicFramePr>
        <p:xfrm>
          <a:off x="6424619" y="2876365"/>
          <a:ext cx="2180949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B6691A-2A7A-453C-9873-EF4D9746E3F3}"/>
              </a:ext>
            </a:extLst>
          </p:cNvPr>
          <p:cNvCxnSpPr>
            <a:cxnSpLocks/>
          </p:cNvCxnSpPr>
          <p:nvPr/>
        </p:nvCxnSpPr>
        <p:spPr>
          <a:xfrm flipH="1">
            <a:off x="2352112" y="1500325"/>
            <a:ext cx="1089178" cy="1325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41DB7-17BB-4C4C-99EB-7DF4AED05513}"/>
              </a:ext>
            </a:extLst>
          </p:cNvPr>
          <p:cNvCxnSpPr>
            <a:cxnSpLocks/>
          </p:cNvCxnSpPr>
          <p:nvPr/>
        </p:nvCxnSpPr>
        <p:spPr>
          <a:xfrm>
            <a:off x="4073800" y="1500325"/>
            <a:ext cx="0" cy="1325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575A26-262B-4A66-AE40-4F44E6404A46}"/>
              </a:ext>
            </a:extLst>
          </p:cNvPr>
          <p:cNvCxnSpPr>
            <a:cxnSpLocks/>
          </p:cNvCxnSpPr>
          <p:nvPr/>
        </p:nvCxnSpPr>
        <p:spPr>
          <a:xfrm>
            <a:off x="4861598" y="1500324"/>
            <a:ext cx="1619005" cy="1325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04094DC-D39E-4087-98F2-DBFC093551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4778216"/>
              </p:ext>
            </p:extLst>
          </p:nvPr>
        </p:nvGraphicFramePr>
        <p:xfrm>
          <a:off x="999889" y="2921848"/>
          <a:ext cx="2186721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3AA2ACF-495C-438B-B074-B5D12185B7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5652394"/>
              </p:ext>
            </p:extLst>
          </p:nvPr>
        </p:nvGraphicFramePr>
        <p:xfrm>
          <a:off x="3715140" y="2921848"/>
          <a:ext cx="218094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5B4AFB-1E18-4940-BE68-09DBDFBAD66A}"/>
              </a:ext>
            </a:extLst>
          </p:cNvPr>
          <p:cNvCxnSpPr>
            <a:cxnSpLocks/>
          </p:cNvCxnSpPr>
          <p:nvPr/>
        </p:nvCxnSpPr>
        <p:spPr>
          <a:xfrm flipH="1">
            <a:off x="2352112" y="1500324"/>
            <a:ext cx="1089178" cy="1325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D2377A-DECA-4D99-B8CB-032F1FF21228}"/>
              </a:ext>
            </a:extLst>
          </p:cNvPr>
          <p:cNvCxnSpPr>
            <a:cxnSpLocks/>
          </p:cNvCxnSpPr>
          <p:nvPr/>
        </p:nvCxnSpPr>
        <p:spPr>
          <a:xfrm>
            <a:off x="4073800" y="1500324"/>
            <a:ext cx="0" cy="1325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9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  <p:bldGraphic spid="7" grpId="0">
        <p:bldAsOne/>
      </p:bldGraphic>
      <p:bldGraphic spid="9" grpId="0">
        <p:bldAsOne/>
      </p:bldGraphic>
      <p:bldGraphic spid="10" grpId="0">
        <p:bldAsOne/>
      </p:bldGraphic>
      <p:bldGraphic spid="13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24A15-4550-4C56-BED9-D203DE2E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Steps to convert LL(1)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260C7-48DF-4476-A687-C069BC918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Firstly check if the grammars contain -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1800" dirty="0"/>
              <a:t>Left</a:t>
            </a:r>
            <a:r>
              <a:rPr lang="en-IN" sz="1400" dirty="0"/>
              <a:t> </a:t>
            </a:r>
            <a:r>
              <a:rPr lang="en-IN" sz="1800" dirty="0"/>
              <a:t>Recursion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sz="1800" dirty="0"/>
              <a:t>Left Factoring</a:t>
            </a:r>
            <a:r>
              <a:rPr lang="en-IN" sz="1400" dirty="0"/>
              <a:t> </a:t>
            </a:r>
            <a:endParaRPr lang="en-IN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Then go for –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1800" dirty="0"/>
              <a:t>FIRST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1800" dirty="0"/>
              <a:t>FOLLOW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1800" dirty="0"/>
              <a:t>Predictive Parsing Table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1800" dirty="0"/>
              <a:t>String (if given)</a:t>
            </a:r>
          </a:p>
        </p:txBody>
      </p:sp>
    </p:spTree>
    <p:extLst>
      <p:ext uri="{BB962C8B-B14F-4D97-AF65-F5344CB8AC3E}">
        <p14:creationId xmlns:p14="http://schemas.microsoft.com/office/powerpoint/2010/main" val="265278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1AA97CB-3655-48B0-BCB6-C6C48212D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277" y="3142696"/>
            <a:ext cx="2157087" cy="305833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F4064-7685-40D1-AC69-203625DB9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866" y="837489"/>
            <a:ext cx="4185623" cy="746674"/>
          </a:xfrm>
        </p:spPr>
        <p:txBody>
          <a:bodyPr/>
          <a:lstStyle/>
          <a:p>
            <a:pPr algn="ctr"/>
            <a:r>
              <a:rPr lang="en-IN" sz="4400" dirty="0"/>
              <a:t>Left Recursion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61100AB-9407-425F-87B6-8BB0FBFDE8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6582" t="35693" r="64545" b="50812"/>
          <a:stretch/>
        </p:blipFill>
        <p:spPr>
          <a:xfrm>
            <a:off x="898402" y="1814931"/>
            <a:ext cx="2129750" cy="877066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CC5831-ABEC-4284-8440-FE0E046AB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52489" y="859969"/>
            <a:ext cx="4185618" cy="746674"/>
          </a:xfrm>
        </p:spPr>
        <p:txBody>
          <a:bodyPr/>
          <a:lstStyle/>
          <a:p>
            <a:pPr algn="ctr"/>
            <a:r>
              <a:rPr lang="en-IN" sz="4400" dirty="0"/>
              <a:t>Left Factoring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692D341-560B-4CC9-A52A-88F853FB205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3"/>
          <a:srcRect l="60749" t="37123" r="19411" b="37115"/>
          <a:stretch/>
        </p:blipFill>
        <p:spPr>
          <a:xfrm>
            <a:off x="898906" y="2922764"/>
            <a:ext cx="1595720" cy="1554079"/>
          </a:xfrm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081E9319-4692-4679-9C81-305D9D113129}"/>
              </a:ext>
            </a:extLst>
          </p:cNvPr>
          <p:cNvSpPr/>
          <p:nvPr/>
        </p:nvSpPr>
        <p:spPr>
          <a:xfrm>
            <a:off x="1777748" y="2561678"/>
            <a:ext cx="205517" cy="4261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51BE69-BB9D-4408-9061-AD6DC2F262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323" t="56699" r="30356"/>
          <a:stretch/>
        </p:blipFill>
        <p:spPr>
          <a:xfrm>
            <a:off x="5147569" y="1563550"/>
            <a:ext cx="3595457" cy="296958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5E57E0-8098-43E9-A75D-5DF443DF82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146" r="11752" b="15806"/>
          <a:stretch/>
        </p:blipFill>
        <p:spPr>
          <a:xfrm>
            <a:off x="5582574" y="4476843"/>
            <a:ext cx="2725445" cy="172418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9F71E21-B1A3-4F24-A91F-C614F1DAB4C0}"/>
              </a:ext>
            </a:extLst>
          </p:cNvPr>
          <p:cNvCxnSpPr/>
          <p:nvPr/>
        </p:nvCxnSpPr>
        <p:spPr>
          <a:xfrm>
            <a:off x="4852489" y="470517"/>
            <a:ext cx="0" cy="603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98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2F36-5D15-4BC0-AF34-43CCD808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83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98ED-BA54-4ACD-A4D0-63C5073FE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7780"/>
            <a:ext cx="8937183" cy="4490620"/>
          </a:xfrm>
        </p:spPr>
        <p:txBody>
          <a:bodyPr>
            <a:normAutofit/>
          </a:bodyPr>
          <a:lstStyle/>
          <a:p>
            <a:r>
              <a:rPr lang="en-IN" sz="2000" dirty="0">
                <a:sym typeface="Wingdings" panose="05000000000000000000" pitchFamily="2" charset="2"/>
              </a:rPr>
              <a:t>E  TA</a:t>
            </a:r>
          </a:p>
          <a:p>
            <a:r>
              <a:rPr lang="en-IN" sz="2000" dirty="0">
                <a:sym typeface="Wingdings" panose="05000000000000000000" pitchFamily="2" charset="2"/>
              </a:rPr>
              <a:t>A  +TA / </a:t>
            </a:r>
          </a:p>
          <a:p>
            <a:r>
              <a:rPr lang="en-IN" sz="2000" dirty="0">
                <a:sym typeface="Wingdings" panose="05000000000000000000" pitchFamily="2" charset="2"/>
              </a:rPr>
              <a:t>T  VB</a:t>
            </a:r>
          </a:p>
          <a:p>
            <a:r>
              <a:rPr lang="en-IN" sz="2000" dirty="0">
                <a:sym typeface="Wingdings" panose="05000000000000000000" pitchFamily="2" charset="2"/>
              </a:rPr>
              <a:t>B  *VB / </a:t>
            </a:r>
          </a:p>
          <a:p>
            <a:r>
              <a:rPr lang="en-IN" sz="2000" dirty="0">
                <a:sym typeface="Wingdings" panose="05000000000000000000" pitchFamily="2" charset="2"/>
              </a:rPr>
              <a:t>V  id / (E)</a:t>
            </a:r>
          </a:p>
          <a:p>
            <a:endParaRPr lang="en-IN" sz="2000" dirty="0">
              <a:sym typeface="Wingdings" panose="05000000000000000000" pitchFamily="2" charset="2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>
                <a:sym typeface="Wingdings" panose="05000000000000000000" pitchFamily="2" charset="2"/>
              </a:rPr>
              <a:t>NOTE  :- Here we can see that there is no left recursion or left factoring in this example so now we will find first() 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665F4B-7745-4E3C-A4D3-B235A8B5F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2299315" y="2254928"/>
            <a:ext cx="189391" cy="2396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C12E5C-B3C4-438A-87AD-2FD853C0FB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2299315" y="3189303"/>
            <a:ext cx="189391" cy="23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8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088AF-425C-4D00-9436-9E5B501B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2971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5965C-DE92-496E-919D-69B77A204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6859"/>
            <a:ext cx="8596668" cy="44345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FIRST is applied to the R.H.S. of a production rule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If first symbol is terminal then put into first(non-terminal).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If non-terminal then go to that non-terminal production and continue above step.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If 	</a:t>
            </a:r>
            <a:r>
              <a:rPr lang="en-IN" sz="2000" dirty="0">
                <a:sym typeface="Wingdings" panose="05000000000000000000" pitchFamily="2" charset="2"/>
              </a:rPr>
              <a:t> directly then put in first(non-terminal).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	       indirectly then put &amp; check again.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582B7-B5E7-4293-9471-6488D9BBD4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1438181" y="3309151"/>
            <a:ext cx="189391" cy="23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4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85A02-270C-4D64-9FF3-15D9AC852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991774"/>
            <a:ext cx="8596668" cy="3049587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000" dirty="0"/>
              <a:t>first (E) = { id , ( 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/>
              <a:t>first (A) = { + ,    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/>
              <a:t>first (T) = { id , ( 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/>
              <a:t>first (B) = { * ,     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/>
              <a:t>first (V) = { id , ( 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96E7D1-8E9D-4987-AC26-D30E8DE454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2823302" y="3504459"/>
            <a:ext cx="189391" cy="239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66ACD6-79AE-46E2-832B-A5BF34180B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2823302" y="4396719"/>
            <a:ext cx="189391" cy="2396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E68EA2-177E-482B-A9B7-4C0F97540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277" y="499221"/>
            <a:ext cx="172402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3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817D-9161-48F5-97F2-D44CB0958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2168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FOLLOW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06B3B-BCA6-42F9-A2E3-1C8BD6501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5939"/>
            <a:ext cx="8596668" cy="47317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For starting symbol put always $.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Find the non-terminal in R.H.S. whose follow has to be found in the grammar.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If its’s next element is </a:t>
            </a:r>
          </a:p>
          <a:p>
            <a:pPr marL="0" indent="0">
              <a:buNone/>
            </a:pPr>
            <a:r>
              <a:rPr lang="en-IN" sz="2000" dirty="0"/>
              <a:t>		</a:t>
            </a:r>
            <a:r>
              <a:rPr lang="en-IN" sz="2000" dirty="0">
                <a:sym typeface="Wingdings" panose="05000000000000000000" pitchFamily="2" charset="2"/>
              </a:rPr>
              <a:t> terminal then put into follow(non-terminal).</a:t>
            </a:r>
          </a:p>
          <a:p>
            <a:pPr marL="0" indent="0">
              <a:buNone/>
            </a:pPr>
            <a:r>
              <a:rPr lang="en-IN" sz="2000" dirty="0"/>
              <a:t>		</a:t>
            </a:r>
            <a:r>
              <a:rPr lang="en-IN" sz="2000" dirty="0">
                <a:sym typeface="Wingdings" panose="05000000000000000000" pitchFamily="2" charset="2"/>
              </a:rPr>
              <a:t> no terminal then copy follow(non-terminal) from which it is 			    found.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			</a:t>
            </a:r>
            <a:r>
              <a:rPr lang="en-IN" sz="2000" dirty="0" err="1">
                <a:sym typeface="Wingdings" panose="05000000000000000000" pitchFamily="2" charset="2"/>
              </a:rPr>
              <a:t>ie</a:t>
            </a:r>
            <a:r>
              <a:rPr lang="en-IN" sz="2000" dirty="0">
                <a:sym typeface="Wingdings" panose="05000000000000000000" pitchFamily="2" charset="2"/>
              </a:rPr>
              <a:t>. E  TE’		follow(E’)=follow(E)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		 non-terminal then check the value of first(next)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				-&gt; if it is terminal then put into follow(non-terminal).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				-&gt; if 	 then put back &amp; check again.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40AF2-F618-4072-A96F-4896223176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3240348" y="5610687"/>
            <a:ext cx="189391" cy="23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9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535FC-5357-4198-B2CA-43D505865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195960"/>
            <a:ext cx="8596668" cy="2845401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000" dirty="0"/>
              <a:t>follow(E) = { $ , ) 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/>
              <a:t>follow(A) = { $ , ) 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/>
              <a:t>follow(T) = { + , $ , ) 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/>
              <a:t>follow(B) = { + , $ , ) 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000" dirty="0"/>
              <a:t>follow(V) = { * , + , $ , ) 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7F9A2A-E3B1-4854-84E9-97E096C77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913" y="676367"/>
            <a:ext cx="1724025" cy="2352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43711F-345D-4C55-9BF6-761A9F6CD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202" y="676367"/>
            <a:ext cx="29146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7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EF42-AC12-41D5-AE5C-5D17BF0E8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1849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Predictive Parsing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041F3-B9F7-46BF-9103-88AD22EC0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1247"/>
            <a:ext cx="9221268" cy="43901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Form a table whose 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2000" dirty="0">
                <a:sym typeface="Wingdings" panose="05000000000000000000" pitchFamily="2" charset="2"/>
              </a:rPr>
              <a:t> </a:t>
            </a:r>
            <a:r>
              <a:rPr lang="en-IN" sz="2000" dirty="0"/>
              <a:t>row1 contain all terminal from grammar set including $ and 				excluding       .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2000" dirty="0">
                <a:sym typeface="Wingdings" panose="05000000000000000000" pitchFamily="2" charset="2"/>
              </a:rPr>
              <a:t> column1 contains all non-terminals from grammar 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For non-terminal </a:t>
            </a:r>
            <a:r>
              <a:rPr lang="en-IN" sz="2000" dirty="0" err="1"/>
              <a:t>ie</a:t>
            </a:r>
            <a:r>
              <a:rPr lang="en-IN" sz="2000" dirty="0"/>
              <a:t>. n1  (n1</a:t>
            </a:r>
            <a:r>
              <a:rPr lang="en-IN" sz="2000" dirty="0">
                <a:sym typeface="Wingdings" panose="05000000000000000000" pitchFamily="2" charset="2"/>
              </a:rPr>
              <a:t>A</a:t>
            </a:r>
            <a:r>
              <a:rPr lang="en-IN" sz="2000" dirty="0"/>
              <a:t>) , if A is -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2000" dirty="0">
                <a:sym typeface="Wingdings" panose="05000000000000000000" pitchFamily="2" charset="2"/>
              </a:rPr>
              <a:t> terminal then put that production in row(terminal),column(n1).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	 non-terminal then check first(n1) &amp; put production rule in that symbol.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	    then check follow(n1) &amp; put into that symbol.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If in any cell , we get two production then that grammar set will not be parsed by LL(1) grammar &amp; so it should be solved by </a:t>
            </a:r>
            <a:r>
              <a:rPr lang="en-IN" sz="2000" b="1" dirty="0"/>
              <a:t>Recursive Decent Parsing.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3EDBEA-0073-492B-90F5-F7F6F5D44F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2554013" y="2476869"/>
            <a:ext cx="189391" cy="2396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96982F-3F33-41F9-978D-3423E7C55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1562469" y="4625265"/>
            <a:ext cx="189391" cy="23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41AAEC43-C314-426F-8765-EFF2865FE2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2955641"/>
              </p:ext>
            </p:extLst>
          </p:nvPr>
        </p:nvGraphicFramePr>
        <p:xfrm>
          <a:off x="677334" y="2711003"/>
          <a:ext cx="8596315" cy="2219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8045">
                  <a:extLst>
                    <a:ext uri="{9D8B030D-6E8A-4147-A177-3AD203B41FA5}">
                      <a16:colId xmlns:a16="http://schemas.microsoft.com/office/drawing/2014/main" val="1475203530"/>
                    </a:ext>
                  </a:extLst>
                </a:gridCol>
                <a:gridCol w="1228045">
                  <a:extLst>
                    <a:ext uri="{9D8B030D-6E8A-4147-A177-3AD203B41FA5}">
                      <a16:colId xmlns:a16="http://schemas.microsoft.com/office/drawing/2014/main" val="2309588272"/>
                    </a:ext>
                  </a:extLst>
                </a:gridCol>
                <a:gridCol w="1228045">
                  <a:extLst>
                    <a:ext uri="{9D8B030D-6E8A-4147-A177-3AD203B41FA5}">
                      <a16:colId xmlns:a16="http://schemas.microsoft.com/office/drawing/2014/main" val="1449697605"/>
                    </a:ext>
                  </a:extLst>
                </a:gridCol>
                <a:gridCol w="1228045">
                  <a:extLst>
                    <a:ext uri="{9D8B030D-6E8A-4147-A177-3AD203B41FA5}">
                      <a16:colId xmlns:a16="http://schemas.microsoft.com/office/drawing/2014/main" val="2152032952"/>
                    </a:ext>
                  </a:extLst>
                </a:gridCol>
                <a:gridCol w="1228045">
                  <a:extLst>
                    <a:ext uri="{9D8B030D-6E8A-4147-A177-3AD203B41FA5}">
                      <a16:colId xmlns:a16="http://schemas.microsoft.com/office/drawing/2014/main" val="1008922655"/>
                    </a:ext>
                  </a:extLst>
                </a:gridCol>
                <a:gridCol w="1228045">
                  <a:extLst>
                    <a:ext uri="{9D8B030D-6E8A-4147-A177-3AD203B41FA5}">
                      <a16:colId xmlns:a16="http://schemas.microsoft.com/office/drawing/2014/main" val="765225653"/>
                    </a:ext>
                  </a:extLst>
                </a:gridCol>
                <a:gridCol w="1228045">
                  <a:extLst>
                    <a:ext uri="{9D8B030D-6E8A-4147-A177-3AD203B41FA5}">
                      <a16:colId xmlns:a16="http://schemas.microsoft.com/office/drawing/2014/main" val="1988316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17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E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TA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E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TA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434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A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A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+TA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A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429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T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VB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T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VB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924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B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B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B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*VB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B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6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/>
                        <a:t>V</a:t>
                      </a:r>
                      <a:r>
                        <a:rPr lang="en-IN" sz="1800" dirty="0" err="1">
                          <a:sym typeface="Wingdings" panose="05000000000000000000" pitchFamily="2" charset="2"/>
                        </a:rPr>
                        <a:t>id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V</a:t>
                      </a:r>
                      <a:r>
                        <a:rPr lang="en-IN" sz="1800" dirty="0">
                          <a:sym typeface="Wingdings" panose="05000000000000000000" pitchFamily="2" charset="2"/>
                        </a:rPr>
                        <a:t>(E)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78086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EB5E3E03-48ED-45AA-B3B7-5739B47D3F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5184558" y="3533310"/>
            <a:ext cx="189391" cy="2396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9B8E6-15BE-40FA-92C4-B478B8FD83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8868791" y="3533309"/>
            <a:ext cx="189391" cy="2396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5802AC7-47D9-4E28-8254-67FBDC4FC5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8868790" y="4232136"/>
            <a:ext cx="189391" cy="2396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C6414C-3EEB-4B60-A650-8F07F149FB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6383043" y="4232136"/>
            <a:ext cx="189391" cy="2396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7D0FD2-A3FE-4ACE-9112-6A0972BE3A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36" t="20719" r="33232" b="25767"/>
          <a:stretch/>
        </p:blipFill>
        <p:spPr>
          <a:xfrm>
            <a:off x="5184558" y="4232135"/>
            <a:ext cx="189391" cy="2396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6A0AFD-4053-49F5-B1E9-292FB8895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712" y="420232"/>
            <a:ext cx="1470498" cy="20067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18382F7-FE1B-4C68-B340-2D6C68FF3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367" y="435970"/>
            <a:ext cx="2454582" cy="20535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64F0031-DDC4-494B-8938-B4B932405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106" y="435970"/>
            <a:ext cx="3160589" cy="20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0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2E93-DF19-4247-9B9F-BD9F6D31A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70120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Parse Input String </a:t>
            </a:r>
            <a:br>
              <a:rPr lang="en-IN" sz="4400" dirty="0"/>
            </a:br>
            <a:r>
              <a:rPr lang="en-IN" sz="2800" dirty="0"/>
              <a:t>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B0D2B-AEA1-4B5A-AA2E-1B7854777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79720"/>
            <a:ext cx="8596668" cy="40616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Parse given string from left to right.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Start from $ and starting symbol.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Replace symbol with it’s production, from which we can form the given input string.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Also write the action which we performed in stack.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Continue till we are left with $ in stack and input.</a:t>
            </a:r>
          </a:p>
        </p:txBody>
      </p:sp>
    </p:spTree>
    <p:extLst>
      <p:ext uri="{BB962C8B-B14F-4D97-AF65-F5344CB8AC3E}">
        <p14:creationId xmlns:p14="http://schemas.microsoft.com/office/powerpoint/2010/main" val="270982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C901C-017E-4512-B0C2-E67DFCBC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4093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String :- id * id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29B5C3C-F56E-43CC-A9D3-A82035C6B8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78026"/>
              </p:ext>
            </p:extLst>
          </p:nvPr>
        </p:nvGraphicFramePr>
        <p:xfrm>
          <a:off x="677334" y="1959027"/>
          <a:ext cx="859631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71265135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89058707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248941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53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307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 A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 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 TA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664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 A B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 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 VB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562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 A B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 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 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562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 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758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 A B V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 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 *VB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769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 A B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841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 A B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 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 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86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 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44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 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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19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 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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03756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6B4DA04-A41A-43BB-BF58-3ED5B1B097DC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8640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4400" dirty="0"/>
              <a:t>String :- id * id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BCE857-AF59-4C56-A622-4FF41FD59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995" y="221942"/>
            <a:ext cx="1228955" cy="16770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261CB1-E35C-42C5-91D9-F49C72BF0B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36" t="20719" r="33232" b="25767"/>
          <a:stretch/>
        </p:blipFill>
        <p:spPr>
          <a:xfrm>
            <a:off x="8096638" y="5766036"/>
            <a:ext cx="189391" cy="239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6C56EC-E862-480A-8624-3E8D75C5F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36" t="20719" r="33232" b="25767"/>
          <a:stretch/>
        </p:blipFill>
        <p:spPr>
          <a:xfrm>
            <a:off x="8096638" y="6128551"/>
            <a:ext cx="189391" cy="23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3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thank you">
            <a:extLst>
              <a:ext uri="{FF2B5EF4-FFF2-40B4-BE49-F238E27FC236}">
                <a16:creationId xmlns:a16="http://schemas.microsoft.com/office/drawing/2014/main" id="{81E61598-F216-4115-B7FE-B98252AAA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744" y="1079516"/>
            <a:ext cx="596265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01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2910</TotalTime>
  <Words>515</Words>
  <Application>Microsoft Office PowerPoint</Application>
  <PresentationFormat>Widescreen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Courier New</vt:lpstr>
      <vt:lpstr>Times New Roman</vt:lpstr>
      <vt:lpstr>Trebuchet MS</vt:lpstr>
      <vt:lpstr>Wingdings</vt:lpstr>
      <vt:lpstr>Wingdings 3</vt:lpstr>
      <vt:lpstr>Facet</vt:lpstr>
      <vt:lpstr>PREDICTIVE  LL(1) PARSING</vt:lpstr>
      <vt:lpstr>PARSING</vt:lpstr>
      <vt:lpstr>L L (1) PARSER</vt:lpstr>
      <vt:lpstr>Steps to convert LL(1) parser</vt:lpstr>
      <vt:lpstr>PowerPoint Presentation</vt:lpstr>
      <vt:lpstr>EXAMPLE</vt:lpstr>
      <vt:lpstr>FIRST</vt:lpstr>
      <vt:lpstr>PowerPoint Presentation</vt:lpstr>
      <vt:lpstr>FOLLOW</vt:lpstr>
      <vt:lpstr>PowerPoint Presentation</vt:lpstr>
      <vt:lpstr>Predictive Parsing Table</vt:lpstr>
      <vt:lpstr>PowerPoint Presentation</vt:lpstr>
      <vt:lpstr>Parse Input String  (optional)</vt:lpstr>
      <vt:lpstr>String :- id * id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 LL(1) PARSING</dc:title>
  <dc:creator>Khyati Patel</dc:creator>
  <cp:lastModifiedBy>Khyati Patel</cp:lastModifiedBy>
  <cp:revision>164</cp:revision>
  <dcterms:created xsi:type="dcterms:W3CDTF">2019-08-23T15:44:55Z</dcterms:created>
  <dcterms:modified xsi:type="dcterms:W3CDTF">2019-08-29T08:34:20Z</dcterms:modified>
</cp:coreProperties>
</file>